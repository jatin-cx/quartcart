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E04F33"/>
          </a:solidFill>
          <a:ln w="12700">
            <a:solidFill>
              <a:srgbClr val="E04F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594360"/>
            <a:ext cx="10908792" cy="5623560"/>
          </a:xfrm>
          <a:prstGeom prst="roundRect">
            <a:avLst>
              <a:gd name="adj" fmla="val 1301"/>
            </a:avLst>
          </a:prstGeom>
          <a:solidFill>
            <a:srgbClr val="FFFDF9"/>
          </a:solidFill>
          <a:ln w="12700">
            <a:solidFill>
              <a:srgbClr val="DFD1C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594360"/>
            <a:ext cx="10908792" cy="73152"/>
          </a:xfrm>
          <a:prstGeom prst="rect">
            <a:avLst/>
          </a:prstGeom>
          <a:solidFill>
            <a:srgbClr val="E04F33"/>
          </a:solidFill>
          <a:ln w="12700">
            <a:solidFill>
              <a:srgbClr val="E04F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1051560"/>
            <a:ext cx="3931920" cy="365760"/>
          </a:xfrm>
          <a:prstGeom prst="roundRect">
            <a:avLst>
              <a:gd name="adj" fmla="val 15000"/>
            </a:avLst>
          </a:prstGeom>
          <a:solidFill>
            <a:srgbClr val="EFE5D8"/>
          </a:solidFill>
          <a:ln w="12700">
            <a:solidFill>
              <a:srgbClr val="E04F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10515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04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WEB &amp; 3D GRAPHICS PROJECT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097280" y="155448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E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</a:t>
            </a:r>
            <a:pPr indent="0" marL="0">
              <a:buNone/>
            </a:pPr>
            <a:r>
              <a:rPr lang="en-US" sz="5400" b="1" dirty="0">
                <a:solidFill>
                  <a:srgbClr val="E04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1097280" y="246888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Next-Generation 3D Interactive E-Commerce Platform &amp; Live Admin Control Center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97280" y="3017520"/>
            <a:ext cx="9326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D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production web application combining a Three.js WebGL 3D retail showroom, real-time shopping bag workflow, Stripe payment processing, and a JWT-secured Owner &amp; Administrator Control Center.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1097280" y="3977640"/>
            <a:ext cx="2377440" cy="1691640"/>
          </a:xfrm>
          <a:prstGeom prst="roundRect">
            <a:avLst>
              <a:gd name="adj" fmla="val 3243"/>
            </a:avLst>
          </a:prstGeom>
          <a:solidFill>
            <a:srgbClr val="F6EFE6"/>
          </a:solidFill>
          <a:ln w="12700">
            <a:solidFill>
              <a:srgbClr val="DFD1C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3977640"/>
            <a:ext cx="2377440" cy="64008"/>
          </a:xfrm>
          <a:prstGeom prst="rect">
            <a:avLst/>
          </a:prstGeom>
          <a:solidFill>
            <a:srgbClr val="E04F33"/>
          </a:solidFill>
          <a:ln w="12700">
            <a:solidFill>
              <a:srgbClr val="E04F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4440" y="41605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04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ENGINE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234440" y="452628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HTML5, CSS3, ES6 JS &amp; Three.js WebGL 3D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639312" y="3977640"/>
            <a:ext cx="2377440" cy="1691640"/>
          </a:xfrm>
          <a:prstGeom prst="roundRect">
            <a:avLst>
              <a:gd name="adj" fmla="val 3243"/>
            </a:avLst>
          </a:prstGeom>
          <a:solidFill>
            <a:srgbClr val="F6EFE6"/>
          </a:solidFill>
          <a:ln w="12700">
            <a:solidFill>
              <a:srgbClr val="DFD1C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39312" y="3977640"/>
            <a:ext cx="237744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76472" y="41605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SERVER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776472" y="452628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&amp; Express.js RESTful API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81344" y="3977640"/>
            <a:ext cx="2377440" cy="1691640"/>
          </a:xfrm>
          <a:prstGeom prst="roundRect">
            <a:avLst>
              <a:gd name="adj" fmla="val 3243"/>
            </a:avLst>
          </a:prstGeom>
          <a:solidFill>
            <a:srgbClr val="F6EFE6"/>
          </a:solidFill>
          <a:ln w="12700">
            <a:solidFill>
              <a:srgbClr val="DFD1C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81344" y="3977640"/>
            <a:ext cx="23774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18504" y="41605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ODM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318504" y="452628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&amp; Mongoose (4 Core Schemas)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723376" y="3977640"/>
            <a:ext cx="2377440" cy="1691640"/>
          </a:xfrm>
          <a:prstGeom prst="roundRect">
            <a:avLst>
              <a:gd name="adj" fmla="val 3243"/>
            </a:avLst>
          </a:prstGeom>
          <a:solidFill>
            <a:srgbClr val="F6EFE6"/>
          </a:solidFill>
          <a:ln w="12700">
            <a:solidFill>
              <a:srgbClr val="DFD1C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723376" y="3977640"/>
            <a:ext cx="237744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860536" y="41605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PAYMENTS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860536" y="452628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RBAC Admin Gate, Bcrypt &amp; Stripe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04F33"/>
          </a:solidFill>
          <a:ln w="12700">
            <a:solidFill>
              <a:srgbClr val="E04F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347472"/>
            <a:ext cx="3108960" cy="310896"/>
          </a:xfrm>
          <a:prstGeom prst="roundRect">
            <a:avLst>
              <a:gd name="adj" fmla="val 17647"/>
            </a:avLst>
          </a:prstGeom>
          <a:solidFill>
            <a:srgbClr val="EFE5D8"/>
          </a:solidFill>
          <a:ln w="12700">
            <a:solidFill>
              <a:srgbClr val="DFD1C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347472"/>
            <a:ext cx="2926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04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| PROJECT VISION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Key Objectives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120700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Bridging the gap between static online catalogs and physical luxury retail showrooms.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6419088"/>
            <a:ext cx="11000232" cy="18288"/>
          </a:xfrm>
          <a:prstGeom prst="rect">
            <a:avLst/>
          </a:prstGeom>
          <a:solidFill>
            <a:srgbClr val="DFD1C2"/>
          </a:solidFill>
          <a:ln w="12700">
            <a:solidFill>
              <a:srgbClr val="DFD1C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D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QuickCart | Full-Stack 3D E-Commerce Platform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76579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04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of 12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94360" y="1691640"/>
            <a:ext cx="5303520" cy="4480560"/>
          </a:xfrm>
          <a:prstGeom prst="roundRect">
            <a:avLst>
              <a:gd name="adj" fmla="val 1633"/>
            </a:avLst>
          </a:prstGeom>
          <a:solidFill>
            <a:srgbClr val="FFFDF9"/>
          </a:solidFill>
          <a:ln w="12700">
            <a:solidFill>
              <a:srgbClr val="DFD1C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1691640"/>
            <a:ext cx="5303520" cy="73152"/>
          </a:xfrm>
          <a:prstGeom prst="rect">
            <a:avLst/>
          </a:prstGeom>
          <a:solidFill>
            <a:srgbClr val="E04F33"/>
          </a:solidFill>
          <a:ln w="12700">
            <a:solidFill>
              <a:srgbClr val="E04F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1920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4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of Conventional Online Stores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68680" y="2450592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Flat, Static 2D Product Grids: Customers cannot inspect product depth, finish, or spatial geometry before buying.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68680" y="3319272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Disconnected Cart Experience: Adding items often forces full page reloads or fails to show immediate visual feedback.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68680" y="4187952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Hardcoded Storefront Themes: Changing store headlines, color palettes, or featured items requires developer code edits.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68680" y="5056632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Weak Admin Access Controls: Many student or prototype projects leave admin dashboards exposed without role verification.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63640" y="1691640"/>
            <a:ext cx="5330952" cy="4480560"/>
          </a:xfrm>
          <a:prstGeom prst="roundRect">
            <a:avLst>
              <a:gd name="adj" fmla="val 1633"/>
            </a:avLst>
          </a:prstGeom>
          <a:solidFill>
            <a:srgbClr val="FFFDF9"/>
          </a:solidFill>
          <a:ln w="12700">
            <a:solidFill>
              <a:srgbClr val="DFD1C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63640" y="1691640"/>
            <a:ext cx="5330952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1920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QuickCart Solves These Challenges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537960" y="2450592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Real-Time Three.js WebGL 3D Showroom: Interactive 360-degree product turntable, 3D floating retail background, and 3D tilt cards.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537960" y="3319272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Instant Slide-Out Bag Drawer: Global localStorage-synced cart drawer with live quantity controls and free shipping tracker.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537960" y="4187952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Live Site &amp; Theme Customizer: Admin can rebrand the store, switch 5 color palettes, and edit hero text in real time.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537960" y="5056632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Multi-Layer JWT + RBAC Security: Dedicated Admin Security Gate and requireAdmin middleware restricting access to the Owner.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04F33"/>
          </a:solidFill>
          <a:ln w="12700">
            <a:solidFill>
              <a:srgbClr val="E04F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347472"/>
            <a:ext cx="3108960" cy="310896"/>
          </a:xfrm>
          <a:prstGeom prst="roundRect">
            <a:avLst>
              <a:gd name="adj" fmla="val 17647"/>
            </a:avLst>
          </a:prstGeom>
          <a:solidFill>
            <a:srgbClr val="EFE5D8"/>
          </a:solidFill>
          <a:ln w="12700">
            <a:solidFill>
              <a:srgbClr val="DFD1C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347472"/>
            <a:ext cx="2926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04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| ARCHITECTURE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System Architecture &amp; Tech Stack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120700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full-stack design separating 3D WebGL presentation, Express REST APIs, and MongoDB persistence.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6419088"/>
            <a:ext cx="11000232" cy="18288"/>
          </a:xfrm>
          <a:prstGeom prst="rect">
            <a:avLst/>
          </a:prstGeom>
          <a:solidFill>
            <a:srgbClr val="DFD1C2"/>
          </a:solidFill>
          <a:ln w="12700">
            <a:solidFill>
              <a:srgbClr val="DFD1C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D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QuickCart | Full-Stack 3D E-Commerce Platform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76579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04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of 12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94360" y="1691640"/>
            <a:ext cx="3502152" cy="4480560"/>
          </a:xfrm>
          <a:prstGeom prst="roundRect">
            <a:avLst>
              <a:gd name="adj" fmla="val 2089"/>
            </a:avLst>
          </a:prstGeom>
          <a:solidFill>
            <a:srgbClr val="FFFDF9"/>
          </a:solidFill>
          <a:ln w="12700">
            <a:solidFill>
              <a:srgbClr val="DFD1C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1691640"/>
            <a:ext cx="3502152" cy="73152"/>
          </a:xfrm>
          <a:prstGeom prst="rect">
            <a:avLst/>
          </a:prstGeom>
          <a:solidFill>
            <a:srgbClr val="E04F33"/>
          </a:solidFill>
          <a:ln w="12700">
            <a:solidFill>
              <a:srgbClr val="E04F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1920240"/>
            <a:ext cx="3044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04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CLIENT PRESENTATION LAYER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22960" y="2240280"/>
            <a:ext cx="3044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/ Frontend (public/)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2651760"/>
            <a:ext cx="3044952" cy="438912"/>
          </a:xfrm>
          <a:prstGeom prst="roundRect">
            <a:avLst>
              <a:gd name="adj" fmla="val 10417"/>
            </a:avLst>
          </a:prstGeom>
          <a:solidFill>
            <a:srgbClr val="F6EFE6"/>
          </a:solidFill>
          <a:ln w="9525">
            <a:solidFill>
              <a:srgbClr val="DFD1C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1832" y="2651760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Semantic Pages (13 Pages)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" y="3200400"/>
            <a:ext cx="3044952" cy="438912"/>
          </a:xfrm>
          <a:prstGeom prst="roundRect">
            <a:avLst>
              <a:gd name="adj" fmla="val 10417"/>
            </a:avLst>
          </a:prstGeom>
          <a:solidFill>
            <a:srgbClr val="F6EFE6"/>
          </a:solidFill>
          <a:ln w="9525">
            <a:solidFill>
              <a:srgbClr val="DFD1C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1832" y="3200400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 Warm Luxury Design System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2960" y="3749040"/>
            <a:ext cx="3044952" cy="438912"/>
          </a:xfrm>
          <a:prstGeom prst="roundRect">
            <a:avLst>
              <a:gd name="adj" fmla="val 10417"/>
            </a:avLst>
          </a:prstGeom>
          <a:solidFill>
            <a:srgbClr val="F6EFE6"/>
          </a:solidFill>
          <a:ln w="9525">
            <a:solidFill>
              <a:srgbClr val="DFD1C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1832" y="3749040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 (r128) WebGL 3D Engines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" y="4297680"/>
            <a:ext cx="3044952" cy="438912"/>
          </a:xfrm>
          <a:prstGeom prst="roundRect">
            <a:avLst>
              <a:gd name="adj" fmla="val 10417"/>
            </a:avLst>
          </a:prstGeom>
          <a:solidFill>
            <a:srgbClr val="F6EFE6"/>
          </a:solidFill>
          <a:ln w="9525">
            <a:solidFill>
              <a:srgbClr val="DFD1C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1832" y="4297680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3D Card Tilt Physics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22960" y="4846320"/>
            <a:ext cx="3044952" cy="438912"/>
          </a:xfrm>
          <a:prstGeom prst="roundRect">
            <a:avLst>
              <a:gd name="adj" fmla="val 10417"/>
            </a:avLst>
          </a:prstGeom>
          <a:solidFill>
            <a:srgbClr val="F6EFE6"/>
          </a:solidFill>
          <a:ln w="9525">
            <a:solidFill>
              <a:srgbClr val="DFD1C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1832" y="4846320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Fetch Wrapper (api.js)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22960" y="5394960"/>
            <a:ext cx="3044952" cy="438912"/>
          </a:xfrm>
          <a:prstGeom prst="roundRect">
            <a:avLst>
              <a:gd name="adj" fmla="val 10417"/>
            </a:avLst>
          </a:prstGeom>
          <a:solidFill>
            <a:srgbClr val="F6EFE6"/>
          </a:solidFill>
          <a:ln w="9525">
            <a:solidFill>
              <a:srgbClr val="DFD1C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1832" y="5394960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Cart Drawer (cart.js)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343400" y="1691640"/>
            <a:ext cx="3502152" cy="4480560"/>
          </a:xfrm>
          <a:prstGeom prst="roundRect">
            <a:avLst>
              <a:gd name="adj" fmla="val 2089"/>
            </a:avLst>
          </a:prstGeom>
          <a:solidFill>
            <a:srgbClr val="FFFDF9"/>
          </a:solidFill>
          <a:ln w="12700">
            <a:solidFill>
              <a:srgbClr val="DFD1C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43400" y="1691640"/>
            <a:ext cx="3502152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1920240"/>
            <a:ext cx="3044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APPLICATION &amp; API LAYER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572000" y="2240280"/>
            <a:ext cx="3044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 Server (routes/)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0" y="2651760"/>
            <a:ext cx="3044952" cy="438912"/>
          </a:xfrm>
          <a:prstGeom prst="roundRect">
            <a:avLst>
              <a:gd name="adj" fmla="val 10417"/>
            </a:avLst>
          </a:prstGeom>
          <a:solidFill>
            <a:srgbClr val="F6EFE6"/>
          </a:solidFill>
          <a:ln w="9525">
            <a:solidFill>
              <a:srgbClr val="DFD1C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90872" y="2651760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API Routers (/api/*)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0" y="3200400"/>
            <a:ext cx="3044952" cy="438912"/>
          </a:xfrm>
          <a:prstGeom prst="roundRect">
            <a:avLst>
              <a:gd name="adj" fmla="val 10417"/>
            </a:avLst>
          </a:prstGeom>
          <a:solidFill>
            <a:srgbClr val="F6EFE6"/>
          </a:solidFill>
          <a:ln w="9525">
            <a:solidFill>
              <a:srgbClr val="DFD1C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90872" y="3200400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 Middleware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0" y="3749040"/>
            <a:ext cx="3044952" cy="438912"/>
          </a:xfrm>
          <a:prstGeom prst="roundRect">
            <a:avLst>
              <a:gd name="adj" fmla="val 10417"/>
            </a:avLst>
          </a:prstGeom>
          <a:solidFill>
            <a:srgbClr val="F6EFE6"/>
          </a:solidFill>
          <a:ln w="9525">
            <a:solidFill>
              <a:srgbClr val="DFD1C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90872" y="3749040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Role Authorization Gate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0" y="4297680"/>
            <a:ext cx="3044952" cy="438912"/>
          </a:xfrm>
          <a:prstGeom prst="roundRect">
            <a:avLst>
              <a:gd name="adj" fmla="val 10417"/>
            </a:avLst>
          </a:prstGeom>
          <a:solidFill>
            <a:srgbClr val="F6EFE6"/>
          </a:solidFill>
          <a:ln w="9525">
            <a:solidFill>
              <a:srgbClr val="DFD1C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90872" y="4297680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 HTTP Security Headers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0" y="4846320"/>
            <a:ext cx="3044952" cy="438912"/>
          </a:xfrm>
          <a:prstGeom prst="roundRect">
            <a:avLst>
              <a:gd name="adj" fmla="val 10417"/>
            </a:avLst>
          </a:prstGeom>
          <a:solidFill>
            <a:srgbClr val="F6EFE6"/>
          </a:solidFill>
          <a:ln w="9525">
            <a:solidFill>
              <a:srgbClr val="DFD1C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90872" y="4846320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Rate Limiting (Brute-Force)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0" y="5394960"/>
            <a:ext cx="3044952" cy="438912"/>
          </a:xfrm>
          <a:prstGeom prst="roundRect">
            <a:avLst>
              <a:gd name="adj" fmla="val 10417"/>
            </a:avLst>
          </a:prstGeom>
          <a:solidFill>
            <a:srgbClr val="F6EFE6"/>
          </a:solidFill>
          <a:ln w="9525">
            <a:solidFill>
              <a:srgbClr val="DFD1C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90872" y="5394960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PaymentIntent &amp; Webhooks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092440" y="1691640"/>
            <a:ext cx="3502152" cy="4480560"/>
          </a:xfrm>
          <a:prstGeom prst="roundRect">
            <a:avLst>
              <a:gd name="adj" fmla="val 2089"/>
            </a:avLst>
          </a:prstGeom>
          <a:solidFill>
            <a:srgbClr val="FFFDF9"/>
          </a:solidFill>
          <a:ln w="12700">
            <a:solidFill>
              <a:srgbClr val="DFD1C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092440" y="1691640"/>
            <a:ext cx="3502152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321040" y="1920240"/>
            <a:ext cx="3044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DATA &amp; PERSISTENCE LAYER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8321040" y="2240280"/>
            <a:ext cx="3044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+ Mongoose ODM (models/)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321040" y="2651760"/>
            <a:ext cx="3044952" cy="438912"/>
          </a:xfrm>
          <a:prstGeom prst="roundRect">
            <a:avLst>
              <a:gd name="adj" fmla="val 10417"/>
            </a:avLst>
          </a:prstGeom>
          <a:solidFill>
            <a:srgbClr val="F6EFE6"/>
          </a:solidFill>
          <a:ln w="9525">
            <a:solidFill>
              <a:srgbClr val="DFD1C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439912" y="2651760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Model (Bcrypt Salt-12 Hash)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8321040" y="3200400"/>
            <a:ext cx="3044952" cy="438912"/>
          </a:xfrm>
          <a:prstGeom prst="roundRect">
            <a:avLst>
              <a:gd name="adj" fmla="val 10417"/>
            </a:avLst>
          </a:prstGeom>
          <a:solidFill>
            <a:srgbClr val="F6EFE6"/>
          </a:solidFill>
          <a:ln w="9525">
            <a:solidFill>
              <a:srgbClr val="DFD1C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439912" y="3200400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Model (Stock, Slugs, Ratings)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8321040" y="3749040"/>
            <a:ext cx="3044952" cy="438912"/>
          </a:xfrm>
          <a:prstGeom prst="roundRect">
            <a:avLst>
              <a:gd name="adj" fmla="val 10417"/>
            </a:avLst>
          </a:prstGeom>
          <a:solidFill>
            <a:srgbClr val="F6EFE6"/>
          </a:solidFill>
          <a:ln w="9525">
            <a:solidFill>
              <a:srgbClr val="DFD1C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439912" y="3749040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Model (Items, Status, Payment)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8321040" y="4297680"/>
            <a:ext cx="3044952" cy="438912"/>
          </a:xfrm>
          <a:prstGeom prst="roundRect">
            <a:avLst>
              <a:gd name="adj" fmla="val 10417"/>
            </a:avLst>
          </a:prstGeom>
          <a:solidFill>
            <a:srgbClr val="F6EFE6"/>
          </a:solidFill>
          <a:ln w="9525">
            <a:solidFill>
              <a:srgbClr val="DFD1C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439912" y="4297680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SiteConfig Model (Live Theme &amp; Copy)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8321040" y="4846320"/>
            <a:ext cx="3044952" cy="438912"/>
          </a:xfrm>
          <a:prstGeom prst="roundRect">
            <a:avLst>
              <a:gd name="adj" fmla="val 10417"/>
            </a:avLst>
          </a:prstGeom>
          <a:solidFill>
            <a:srgbClr val="F6EFE6"/>
          </a:solidFill>
          <a:ln w="9525">
            <a:solidFill>
              <a:srgbClr val="DFD1C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439912" y="4846320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Indexing &amp; Validation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8321040" y="5394960"/>
            <a:ext cx="3044952" cy="438912"/>
          </a:xfrm>
          <a:prstGeom prst="roundRect">
            <a:avLst>
              <a:gd name="adj" fmla="val 10417"/>
            </a:avLst>
          </a:prstGeom>
          <a:solidFill>
            <a:srgbClr val="F6EFE6"/>
          </a:solidFill>
          <a:ln w="9525">
            <a:solidFill>
              <a:srgbClr val="DFD1C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439912" y="5394960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Atlas &amp; Local DB Support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04F33"/>
          </a:solidFill>
          <a:ln w="12700">
            <a:solidFill>
              <a:srgbClr val="E04F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347472"/>
            <a:ext cx="3108960" cy="310896"/>
          </a:xfrm>
          <a:prstGeom prst="roundRect">
            <a:avLst>
              <a:gd name="adj" fmla="val 17647"/>
            </a:avLst>
          </a:prstGeom>
          <a:solidFill>
            <a:srgbClr val="EFE5D8"/>
          </a:solidFill>
          <a:ln w="12700">
            <a:solidFill>
              <a:srgbClr val="DFD1C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347472"/>
            <a:ext cx="2926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04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| 3D WEBGL ENGINEERING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Custom 3D Interactive Visual Engines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120700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Hardware-accelerated WebGL graphics built with Three.js and CSS3 3D perspective transforms.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6419088"/>
            <a:ext cx="11000232" cy="18288"/>
          </a:xfrm>
          <a:prstGeom prst="rect">
            <a:avLst/>
          </a:prstGeom>
          <a:solidFill>
            <a:srgbClr val="DFD1C2"/>
          </a:solidFill>
          <a:ln w="12700">
            <a:solidFill>
              <a:srgbClr val="DFD1C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D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QuickCart | Full-Stack 3D E-Commerce Platform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76579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04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of 12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94360" y="1691640"/>
            <a:ext cx="5376672" cy="2057400"/>
          </a:xfrm>
          <a:prstGeom prst="roundRect">
            <a:avLst>
              <a:gd name="adj" fmla="val 3556"/>
            </a:avLst>
          </a:prstGeom>
          <a:solidFill>
            <a:srgbClr val="FFFDF9"/>
          </a:solidFill>
          <a:ln w="12700">
            <a:solidFill>
              <a:srgbClr val="DFD1C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1691640"/>
            <a:ext cx="5376672" cy="73152"/>
          </a:xfrm>
          <a:prstGeom prst="rect">
            <a:avLst/>
          </a:prstGeom>
          <a:solidFill>
            <a:srgbClr val="E04F33"/>
          </a:solidFill>
          <a:ln w="12700">
            <a:solidFill>
              <a:srgbClr val="E04F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189280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4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Full-Viewport 3D Retail Showroom (public/js/bg-3d.js)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2331720"/>
            <a:ext cx="4937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floating 3D luxury shopping bags with metallic handles, wrapped gift parcels with gold ribbons, and orbiting rings that respond smoothly to mouse parallax and scroll depth across every page.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1691640"/>
            <a:ext cx="5376672" cy="2057400"/>
          </a:xfrm>
          <a:prstGeom prst="roundRect">
            <a:avLst>
              <a:gd name="adj" fmla="val 3556"/>
            </a:avLst>
          </a:prstGeom>
          <a:solidFill>
            <a:srgbClr val="FFFDF9"/>
          </a:solidFill>
          <a:ln w="12700">
            <a:solidFill>
              <a:srgbClr val="DFD1C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1691640"/>
            <a:ext cx="5376672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189280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360-Degree Flagship Studio Turntable (public/js/three-hero.js)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46520" y="2331720"/>
            <a:ext cx="4937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3D headphone model on the homepage and product detail pages. Supports click-and-drag 360-degree inspection and real-time material colorway switching (Obsidian, Titanium, Cyber).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4360" y="3977640"/>
            <a:ext cx="5376672" cy="2057400"/>
          </a:xfrm>
          <a:prstGeom prst="roundRect">
            <a:avLst>
              <a:gd name="adj" fmla="val 3556"/>
            </a:avLst>
          </a:prstGeom>
          <a:solidFill>
            <a:srgbClr val="FFFDF9"/>
          </a:solidFill>
          <a:ln w="12700">
            <a:solidFill>
              <a:srgbClr val="DFD1C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3977640"/>
            <a:ext cx="5376672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17880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3D Luxury Auth Pedestal (public/js/three-shopping-auth.js)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4617720"/>
            <a:ext cx="4937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Three.js retail sculpture on the Sign In and Sign Up pages featuring a rotating designer shopping bag, gift box, floating gold price tag, and VIP member card.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17920" y="3977640"/>
            <a:ext cx="5376672" cy="2057400"/>
          </a:xfrm>
          <a:prstGeom prst="roundRect">
            <a:avLst>
              <a:gd name="adj" fmla="val 3556"/>
            </a:avLst>
          </a:prstGeom>
          <a:solidFill>
            <a:srgbClr val="FFFDF9"/>
          </a:solidFill>
          <a:ln w="12700">
            <a:solidFill>
              <a:srgbClr val="DFD1C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17920" y="3977640"/>
            <a:ext cx="5376672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46520" y="417880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Interactive 3D Card Tilt &amp; Glare Engine (public/js/tilt3d.js)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46520" y="4617720"/>
            <a:ext cx="4937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real-time 3D perspective rotation (rotateX / rotateY) and dynamic radial specular lighting across all product cards, category cards, and showcase panels.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04F33"/>
          </a:solidFill>
          <a:ln w="12700">
            <a:solidFill>
              <a:srgbClr val="E04F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347472"/>
            <a:ext cx="3108960" cy="310896"/>
          </a:xfrm>
          <a:prstGeom prst="roundRect">
            <a:avLst>
              <a:gd name="adj" fmla="val 17647"/>
            </a:avLst>
          </a:prstGeom>
          <a:solidFill>
            <a:srgbClr val="EFE5D8"/>
          </a:solidFill>
          <a:ln w="12700">
            <a:solidFill>
              <a:srgbClr val="DFD1C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347472"/>
            <a:ext cx="2926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04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| STOREFRONT UX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Customer Shopping Journey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120700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high conversion, instant responsiveness, and frictionless product discovery.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6419088"/>
            <a:ext cx="11000232" cy="18288"/>
          </a:xfrm>
          <a:prstGeom prst="rect">
            <a:avLst/>
          </a:prstGeom>
          <a:solidFill>
            <a:srgbClr val="DFD1C2"/>
          </a:solidFill>
          <a:ln w="12700">
            <a:solidFill>
              <a:srgbClr val="DFD1C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D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QuickCart | Full-Stack 3D E-Commerce Platform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76579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04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of 12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94360" y="1737360"/>
            <a:ext cx="2615184" cy="4389120"/>
          </a:xfrm>
          <a:prstGeom prst="roundRect">
            <a:avLst>
              <a:gd name="adj" fmla="val 2797"/>
            </a:avLst>
          </a:prstGeom>
          <a:solidFill>
            <a:srgbClr val="FFFDF9"/>
          </a:solidFill>
          <a:ln w="12700">
            <a:solidFill>
              <a:srgbClr val="DFD1C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1737360"/>
            <a:ext cx="2615184" cy="73152"/>
          </a:xfrm>
          <a:prstGeom prst="rect">
            <a:avLst/>
          </a:prstGeom>
          <a:solidFill>
            <a:srgbClr val="E04F33"/>
          </a:solidFill>
          <a:ln w="12700">
            <a:solidFill>
              <a:srgbClr val="E04F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1965960"/>
            <a:ext cx="1005840" cy="292608"/>
          </a:xfrm>
          <a:prstGeom prst="roundRect">
            <a:avLst>
              <a:gd name="adj" fmla="val 15625"/>
            </a:avLst>
          </a:prstGeom>
          <a:solidFill>
            <a:srgbClr val="EFE5D8"/>
          </a:solidFill>
          <a:ln w="12700">
            <a:solidFill>
              <a:srgbClr val="E04F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196596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04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01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77240" y="2423160"/>
            <a:ext cx="22494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 Showroom (index.html)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777240" y="3108960"/>
            <a:ext cx="2249424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3D turntable, dynamic announcement banner, spotlight flagship product grid, category cards, and customer testimonials.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392424" y="1737360"/>
            <a:ext cx="2615184" cy="4389120"/>
          </a:xfrm>
          <a:prstGeom prst="roundRect">
            <a:avLst>
              <a:gd name="adj" fmla="val 2797"/>
            </a:avLst>
          </a:prstGeom>
          <a:solidFill>
            <a:srgbClr val="FFFDF9"/>
          </a:solidFill>
          <a:ln w="12700">
            <a:solidFill>
              <a:srgbClr val="DFD1C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92424" y="1737360"/>
            <a:ext cx="2615184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75304" y="1965960"/>
            <a:ext cx="1005840" cy="292608"/>
          </a:xfrm>
          <a:prstGeom prst="roundRect">
            <a:avLst>
              <a:gd name="adj" fmla="val 15625"/>
            </a:avLst>
          </a:prstGeom>
          <a:solidFill>
            <a:srgbClr val="EFE5D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75304" y="196596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02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575304" y="2423160"/>
            <a:ext cx="22494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&amp; Live Filters (products.html)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3575304" y="3108960"/>
            <a:ext cx="2249424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keyword search, 1-click department filter pills (Audio, Watches, Footwear, Photography, Accessories), and price/date sorting.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90488" y="1737360"/>
            <a:ext cx="2615184" cy="4389120"/>
          </a:xfrm>
          <a:prstGeom prst="roundRect">
            <a:avLst>
              <a:gd name="adj" fmla="val 2797"/>
            </a:avLst>
          </a:prstGeom>
          <a:solidFill>
            <a:srgbClr val="FFFDF9"/>
          </a:solidFill>
          <a:ln w="12700">
            <a:solidFill>
              <a:srgbClr val="DFD1C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90488" y="1737360"/>
            <a:ext cx="2615184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73368" y="1965960"/>
            <a:ext cx="1005840" cy="292608"/>
          </a:xfrm>
          <a:prstGeom prst="roundRect">
            <a:avLst>
              <a:gd name="adj" fmla="val 15625"/>
            </a:avLst>
          </a:prstGeom>
          <a:solidFill>
            <a:srgbClr val="EFE5D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196596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03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373368" y="2423160"/>
            <a:ext cx="22494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Product Inspection (product-detail.html)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373368" y="3108960"/>
            <a:ext cx="2249424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between high-res studio photography and the interactive 3D model turntable, view live stock counts, and select quantities.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988552" y="1737360"/>
            <a:ext cx="2615184" cy="4389120"/>
          </a:xfrm>
          <a:prstGeom prst="roundRect">
            <a:avLst>
              <a:gd name="adj" fmla="val 2797"/>
            </a:avLst>
          </a:prstGeom>
          <a:solidFill>
            <a:srgbClr val="FFFDF9"/>
          </a:solidFill>
          <a:ln w="12700">
            <a:solidFill>
              <a:srgbClr val="DFD1C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988552" y="1737360"/>
            <a:ext cx="2615184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171432" y="1965960"/>
            <a:ext cx="1005840" cy="292608"/>
          </a:xfrm>
          <a:prstGeom prst="roundRect">
            <a:avLst>
              <a:gd name="adj" fmla="val 15625"/>
            </a:avLst>
          </a:prstGeom>
          <a:solidFill>
            <a:srgbClr val="EFE5D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71432" y="196596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04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9171432" y="2423160"/>
            <a:ext cx="22494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Slide-Out Bag &amp; Cart (cart.html)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9171432" y="3108960"/>
            <a:ext cx="2249424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slide-out shopping bag drawer opens immediately when adding items, paired with a full cart management page and free shipping meter.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04F33"/>
          </a:solidFill>
          <a:ln w="12700">
            <a:solidFill>
              <a:srgbClr val="E04F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347472"/>
            <a:ext cx="3108960" cy="310896"/>
          </a:xfrm>
          <a:prstGeom prst="roundRect">
            <a:avLst>
              <a:gd name="adj" fmla="val 17647"/>
            </a:avLst>
          </a:prstGeom>
          <a:solidFill>
            <a:srgbClr val="EFE5D8"/>
          </a:solidFill>
          <a:ln w="12700">
            <a:solidFill>
              <a:srgbClr val="DFD1C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347472"/>
            <a:ext cx="2926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04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| CHECKOUT &amp; PAYMENTS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Multi-Payment Architecture &amp; Google Pay Integration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120700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 support for Google Pay (GPay), UPI, RuPay &amp; Visa Cards, Net Banking, and Cash on Delivery.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6419088"/>
            <a:ext cx="11000232" cy="18288"/>
          </a:xfrm>
          <a:prstGeom prst="rect">
            <a:avLst/>
          </a:prstGeom>
          <a:solidFill>
            <a:srgbClr val="DFD1C2"/>
          </a:solidFill>
          <a:ln w="12700">
            <a:solidFill>
              <a:srgbClr val="DFD1C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D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QuickCart | Full-Stack 3D E-Commerce Platform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76579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04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of 12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94360" y="1691640"/>
            <a:ext cx="5486400" cy="4480560"/>
          </a:xfrm>
          <a:prstGeom prst="roundRect">
            <a:avLst>
              <a:gd name="adj" fmla="val 1633"/>
            </a:avLst>
          </a:prstGeom>
          <a:solidFill>
            <a:srgbClr val="FFFDF9"/>
          </a:solidFill>
          <a:ln w="12700">
            <a:solidFill>
              <a:srgbClr val="DFD1C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1691640"/>
            <a:ext cx="5486400" cy="73152"/>
          </a:xfrm>
          <a:prstGeom prst="rect">
            <a:avLst/>
          </a:prstGeom>
          <a:solidFill>
            <a:srgbClr val="E04F33"/>
          </a:solidFill>
          <a:ln w="12700">
            <a:solidFill>
              <a:srgbClr val="E04F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19202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Multi-Payment Methods (checkout.html)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868680" y="242316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Google Pay &amp; UPI Apps: 1-click checkout via Google Pay, PhonePe, Paytm, BHIM, or any verified UPI handle (@okhdfcbank, @okaxis, @ybl).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329184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Dynamic UPI QR Code: On-demand dynamic UPI QR generation with exact order total and instant scan from any mobile banking app.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" y="416052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RuPay, Visa &amp; Cards: Real-time card brand detection, 16-digit spacing, MM/YY expiry auto-formatting, and CVV masking.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8680" y="502920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Net Banking &amp; COD: Instant access to 40+ Indian scheduled banks (SBI, HDFC, ICICI, Axis) plus Doorstep Cash on Delivery.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1691640"/>
            <a:ext cx="5285232" cy="4480560"/>
          </a:xfrm>
          <a:prstGeom prst="roundRect">
            <a:avLst>
              <a:gd name="adj" fmla="val 1633"/>
            </a:avLst>
          </a:prstGeom>
          <a:solidFill>
            <a:srgbClr val="FFFDF9"/>
          </a:solidFill>
          <a:ln w="12700">
            <a:solidFill>
              <a:srgbClr val="DFD1C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1691640"/>
            <a:ext cx="5285232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1920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Settlement Pipeline (routes/orders.js)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6583680" y="242316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/api/orders: Records items, address, paymentMethod (gpay, upi, card, netbanking, cod), and paymentDetails.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83680" y="329184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Stock Deduction: Verifies product availability and decrements available product stock atomically in MongoDB.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83680" y="416052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Shipping Fee Engine: Automatically unlocks complimentary shipping across India for orders &gt;= ₹999 (₹99 under ₹999).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83680" y="502920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Downloadable Tax Invoice: Generates official GST/retail invoices with itemized totals, payment methods, and delivery tracking.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04F33"/>
          </a:solidFill>
          <a:ln w="12700">
            <a:solidFill>
              <a:srgbClr val="E04F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347472"/>
            <a:ext cx="3108960" cy="310896"/>
          </a:xfrm>
          <a:prstGeom prst="roundRect">
            <a:avLst>
              <a:gd name="adj" fmla="val 17647"/>
            </a:avLst>
          </a:prstGeom>
          <a:solidFill>
            <a:srgbClr val="EFE5D8"/>
          </a:solidFill>
          <a:ln w="12700">
            <a:solidFill>
              <a:srgbClr val="DFD1C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347472"/>
            <a:ext cx="2926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04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| SECURITY &amp; AUTH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Multi-Layer Authentication &amp; Security Architecture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120700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 password hashing, JWT session management, and HTTP security hardening.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6419088"/>
            <a:ext cx="11000232" cy="18288"/>
          </a:xfrm>
          <a:prstGeom prst="rect">
            <a:avLst/>
          </a:prstGeom>
          <a:solidFill>
            <a:srgbClr val="DFD1C2"/>
          </a:solidFill>
          <a:ln w="12700">
            <a:solidFill>
              <a:srgbClr val="DFD1C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D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QuickCart | Full-Stack 3D E-Commerce Platform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76579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04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 of 12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94360" y="1691640"/>
            <a:ext cx="5376672" cy="2057400"/>
          </a:xfrm>
          <a:prstGeom prst="roundRect">
            <a:avLst>
              <a:gd name="adj" fmla="val 3556"/>
            </a:avLst>
          </a:prstGeom>
          <a:solidFill>
            <a:srgbClr val="FFFDF9"/>
          </a:solidFill>
          <a:ln w="12700">
            <a:solidFill>
              <a:srgbClr val="DFD1C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1691640"/>
            <a:ext cx="5376672" cy="73152"/>
          </a:xfrm>
          <a:prstGeom prst="rect">
            <a:avLst/>
          </a:prstGeom>
          <a:solidFill>
            <a:srgbClr val="E04F33"/>
          </a:solidFill>
          <a:ln w="12700">
            <a:solidFill>
              <a:srgbClr val="E04F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1892808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4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Password Hashing (models/User.js)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2313432"/>
            <a:ext cx="4937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are never stored in plain text. Mongoose pre-save hooks automatically hash passwords using bcryptjs with 12 salt rounds, and select: false excludes password fields from queries.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1691640"/>
            <a:ext cx="5376672" cy="2057400"/>
          </a:xfrm>
          <a:prstGeom prst="roundRect">
            <a:avLst>
              <a:gd name="adj" fmla="val 3556"/>
            </a:avLst>
          </a:prstGeom>
          <a:solidFill>
            <a:srgbClr val="FFFDF9"/>
          </a:solidFill>
          <a:ln w="12700">
            <a:solidFill>
              <a:srgbClr val="DFD1C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1691640"/>
            <a:ext cx="5376672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1892808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JWT Sessions (middleware/auth.js)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46520" y="2313432"/>
            <a:ext cx="4937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Upon login, the server signs a JSON Web Token (JWT) with user ID and role (7-day expiry). Protected routes verify the Authorization: Bearer &lt;token&gt; header on every request.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4360" y="3977640"/>
            <a:ext cx="5376672" cy="2057400"/>
          </a:xfrm>
          <a:prstGeom prst="roundRect">
            <a:avLst>
              <a:gd name="adj" fmla="val 3556"/>
            </a:avLst>
          </a:prstGeom>
          <a:solidFill>
            <a:srgbClr val="FFFDF9"/>
          </a:solidFill>
          <a:ln w="12700">
            <a:solidFill>
              <a:srgbClr val="DFD1C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3977640"/>
            <a:ext cx="5376672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178808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(RBAC) (requireAdmin Middleware)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4599432"/>
            <a:ext cx="4937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separation between customer and admin roles. Non-admin users attempting to call any management endpoint receive an immediate 403 Forbidden response.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17920" y="3977640"/>
            <a:ext cx="5376672" cy="2057400"/>
          </a:xfrm>
          <a:prstGeom prst="roundRect">
            <a:avLst>
              <a:gd name="adj" fmla="val 3556"/>
            </a:avLst>
          </a:prstGeom>
          <a:solidFill>
            <a:srgbClr val="FFFDF9"/>
          </a:solidFill>
          <a:ln w="12700">
            <a:solidFill>
              <a:srgbClr val="DFD1C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17920" y="3977640"/>
            <a:ext cx="5376672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46520" y="4178808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&amp; Helmet CSP (server.js &amp; routes/auth.js)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46520" y="4599432"/>
            <a:ext cx="4937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express-rate-limit blocks brute-force login attacks (max 20-25 attempts per 15 minutes), while Helmet configures strict Content Security Policy (CSP) headers.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04F33"/>
          </a:solidFill>
          <a:ln w="12700">
            <a:solidFill>
              <a:srgbClr val="E04F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347472"/>
            <a:ext cx="3108960" cy="310896"/>
          </a:xfrm>
          <a:prstGeom prst="roundRect">
            <a:avLst>
              <a:gd name="adj" fmla="val 17647"/>
            </a:avLst>
          </a:prstGeom>
          <a:solidFill>
            <a:srgbClr val="EFE5D8"/>
          </a:solidFill>
          <a:ln w="12700">
            <a:solidFill>
              <a:srgbClr val="DFD1C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347472"/>
            <a:ext cx="2926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04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| ADMIN VAULT SECURITY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Secured Owner &amp; Administrator Control Center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120700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Invisible to regular customers and protected by a dedicated Owner Authentication Gate (/admin.html).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6419088"/>
            <a:ext cx="11000232" cy="18288"/>
          </a:xfrm>
          <a:prstGeom prst="rect">
            <a:avLst/>
          </a:prstGeom>
          <a:solidFill>
            <a:srgbClr val="DFD1C2"/>
          </a:solidFill>
          <a:ln w="12700">
            <a:solidFill>
              <a:srgbClr val="DFD1C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D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QuickCart | Full-Stack 3D E-Commerce Platform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76579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04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 of 12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94360" y="1691640"/>
            <a:ext cx="11000232" cy="4480560"/>
          </a:xfrm>
          <a:prstGeom prst="roundRect">
            <a:avLst>
              <a:gd name="adj" fmla="val 1633"/>
            </a:avLst>
          </a:prstGeom>
          <a:solidFill>
            <a:srgbClr val="FFFDF9"/>
          </a:solidFill>
          <a:ln w="12700">
            <a:solidFill>
              <a:srgbClr val="DFD1C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1691640"/>
            <a:ext cx="11000232" cy="73152"/>
          </a:xfrm>
          <a:prstGeom prst="rect">
            <a:avLst/>
          </a:prstGeom>
          <a:solidFill>
            <a:srgbClr val="E04F33"/>
          </a:solidFill>
          <a:ln w="12700">
            <a:solidFill>
              <a:srgbClr val="E04F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2011680"/>
            <a:ext cx="2487168" cy="3840480"/>
          </a:xfrm>
          <a:prstGeom prst="roundRect">
            <a:avLst>
              <a:gd name="adj" fmla="val 2206"/>
            </a:avLst>
          </a:prstGeom>
          <a:solidFill>
            <a:srgbClr val="F6EFE6"/>
          </a:solidFill>
          <a:ln w="12700">
            <a:solidFill>
              <a:srgbClr val="DFD1C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2011680"/>
            <a:ext cx="2487168" cy="73152"/>
          </a:xfrm>
          <a:prstGeom prst="rect">
            <a:avLst/>
          </a:prstGeom>
          <a:solidFill>
            <a:srgbClr val="E04F33"/>
          </a:solidFill>
          <a:ln w="12700">
            <a:solidFill>
              <a:srgbClr val="E04F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33272" y="2212848"/>
            <a:ext cx="2157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4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33272" y="2514600"/>
            <a:ext cx="21579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Navbar Visibility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33272" y="3108960"/>
            <a:ext cx="2157984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visitors and logged-in Customer accounts never see the Admin Vault button in the navigation bar. api.js dynamically renders the link only when user.role === "admin".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538728" y="2011680"/>
            <a:ext cx="2487168" cy="3840480"/>
          </a:xfrm>
          <a:prstGeom prst="roundRect">
            <a:avLst>
              <a:gd name="adj" fmla="val 2206"/>
            </a:avLst>
          </a:prstGeom>
          <a:solidFill>
            <a:srgbClr val="F6EFE6"/>
          </a:solidFill>
          <a:ln w="12700">
            <a:solidFill>
              <a:srgbClr val="DFD1C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38728" y="2011680"/>
            <a:ext cx="2487168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03320" y="2212848"/>
            <a:ext cx="2157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703320" y="2514600"/>
            <a:ext cx="21579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Admin Security Gate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703320" y="3108960"/>
            <a:ext cx="2157984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Visiting /admin.html directly hides the entire dashboard workspace (display: none) and presents the Restricted Owner &amp; Admin Authentication Vault until the server verifies a valid Admin JWT.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08776" y="2011680"/>
            <a:ext cx="2487168" cy="3840480"/>
          </a:xfrm>
          <a:prstGeom prst="roundRect">
            <a:avLst>
              <a:gd name="adj" fmla="val 2206"/>
            </a:avLst>
          </a:prstGeom>
          <a:solidFill>
            <a:srgbClr val="F6EFE6"/>
          </a:solidFill>
          <a:ln w="12700">
            <a:solidFill>
              <a:srgbClr val="DFD1C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08776" y="2011680"/>
            <a:ext cx="2487168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73368" y="2212848"/>
            <a:ext cx="2157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373368" y="2514600"/>
            <a:ext cx="21579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JWT + requireAdmin Gate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373368" y="3108960"/>
            <a:ext cx="2157984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management endpoints in routes/admin.js and write endpoints in routes/products.js enforce both authMiddleware (401) and requireAdmin (403) before executing any database operation.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878824" y="2011680"/>
            <a:ext cx="2487168" cy="3840480"/>
          </a:xfrm>
          <a:prstGeom prst="roundRect">
            <a:avLst>
              <a:gd name="adj" fmla="val 2206"/>
            </a:avLst>
          </a:prstGeom>
          <a:solidFill>
            <a:srgbClr val="F6EFE6"/>
          </a:solidFill>
          <a:ln w="12700">
            <a:solidFill>
              <a:srgbClr val="DFD1C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878824" y="2011680"/>
            <a:ext cx="2487168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043416" y="2212848"/>
            <a:ext cx="2157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043416" y="2514600"/>
            <a:ext cx="21579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Master Key &amp; Vault Lock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043416" y="3108960"/>
            <a:ext cx="2157984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a dedicated Owner Master Key (kala_hu_re) to elevate an owner account at login, plus a 1-click Lock Vault button that terminates the admin session immediately.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04F33"/>
          </a:solidFill>
          <a:ln w="12700">
            <a:solidFill>
              <a:srgbClr val="E04F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347472"/>
            <a:ext cx="3108960" cy="310896"/>
          </a:xfrm>
          <a:prstGeom prst="roundRect">
            <a:avLst>
              <a:gd name="adj" fmla="val 17647"/>
            </a:avLst>
          </a:prstGeom>
          <a:solidFill>
            <a:srgbClr val="EFE5D8"/>
          </a:solidFill>
          <a:ln w="12700">
            <a:solidFill>
              <a:srgbClr val="DFD1C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347472"/>
            <a:ext cx="2926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04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| FULL SITE CONTROL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Admin Control Modules: Change Every Part of the Site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120700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real-time control over inventory, storefront theme palettes, hero copy, orders, and users.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6419088"/>
            <a:ext cx="11000232" cy="18288"/>
          </a:xfrm>
          <a:prstGeom prst="rect">
            <a:avLst/>
          </a:prstGeom>
          <a:solidFill>
            <a:srgbClr val="DFD1C2"/>
          </a:solidFill>
          <a:ln w="12700">
            <a:solidFill>
              <a:srgbClr val="DFD1C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D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QuickCart | Full-Stack 3D E-Commerce Platform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76579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04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 of 12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94360" y="1691640"/>
            <a:ext cx="5376672" cy="2057400"/>
          </a:xfrm>
          <a:prstGeom prst="roundRect">
            <a:avLst>
              <a:gd name="adj" fmla="val 3556"/>
            </a:avLst>
          </a:prstGeom>
          <a:solidFill>
            <a:srgbClr val="FFFDF9"/>
          </a:solidFill>
          <a:ln w="12700">
            <a:solidFill>
              <a:srgbClr val="DFD1C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1691640"/>
            <a:ext cx="5376672" cy="73152"/>
          </a:xfrm>
          <a:prstGeom prst="rect">
            <a:avLst/>
          </a:prstGeom>
          <a:solidFill>
            <a:srgbClr val="E04F33"/>
          </a:solidFill>
          <a:ln w="12700">
            <a:solidFill>
              <a:srgbClr val="E04F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1892808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04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Products &amp; Inventory Manager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22960" y="2313432"/>
            <a:ext cx="4937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new products with 1-click luxury preset images, edit product specs in a modal, adjust stock (+5 / -1) instantaneously, toggle Homepage Spotlight, or seed 6 flagship products in one click.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1691640"/>
            <a:ext cx="5376672" cy="2057400"/>
          </a:xfrm>
          <a:prstGeom prst="roundRect">
            <a:avLst>
              <a:gd name="adj" fmla="val 3556"/>
            </a:avLst>
          </a:prstGeom>
          <a:solidFill>
            <a:srgbClr val="FFFDF9"/>
          </a:solidFill>
          <a:ln w="12700">
            <a:solidFill>
              <a:srgbClr val="DFD1C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1691640"/>
            <a:ext cx="5376672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1892808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Live Site &amp; Theme Customizer (SiteConfig)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446520" y="2313432"/>
            <a:ext cx="4937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Store Brand Name across all pages, switch between 5 live color palettes (Terracotta, Emerald, Gold, Rose, Cobalt), toggle the 3D Showroom background, and edit Hero headlines &amp; 3D Studio pricing live.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4360" y="3977640"/>
            <a:ext cx="5376672" cy="2057400"/>
          </a:xfrm>
          <a:prstGeom prst="roundRect">
            <a:avLst>
              <a:gd name="adj" fmla="val 3556"/>
            </a:avLst>
          </a:prstGeom>
          <a:solidFill>
            <a:srgbClr val="FFFDF9"/>
          </a:solidFill>
          <a:ln w="12700">
            <a:solidFill>
              <a:srgbClr val="DFD1C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3977640"/>
            <a:ext cx="5376672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178808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Orders &amp; Fulfillment Manager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22960" y="4599432"/>
            <a:ext cx="4937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customer orders with itemized quantities, customer contact info, and total revenue. Update Payment Status (pending, paid, failed) and Fulfillment Status (processing, shipped, delivered, cancelled).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17920" y="3977640"/>
            <a:ext cx="5376672" cy="2057400"/>
          </a:xfrm>
          <a:prstGeom prst="roundRect">
            <a:avLst>
              <a:gd name="adj" fmla="val 3556"/>
            </a:avLst>
          </a:prstGeom>
          <a:solidFill>
            <a:srgbClr val="FFFDF9"/>
          </a:solidFill>
          <a:ln w="12700">
            <a:solidFill>
              <a:srgbClr val="DFD1C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17920" y="3977640"/>
            <a:ext cx="5376672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46520" y="4178808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Users &amp; Role Manager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6446520" y="4599432"/>
            <a:ext cx="4937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new Customer or Admin accounts directly from the dashboard, promote or demote user roles between Customer and Admin, reset user passwords, and remove test accounts.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04F33"/>
          </a:solidFill>
          <a:ln w="12700">
            <a:solidFill>
              <a:srgbClr val="E04F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347472"/>
            <a:ext cx="3108960" cy="310896"/>
          </a:xfrm>
          <a:prstGeom prst="roundRect">
            <a:avLst>
              <a:gd name="adj" fmla="val 17647"/>
            </a:avLst>
          </a:prstGeom>
          <a:solidFill>
            <a:srgbClr val="EFE5D8"/>
          </a:solidFill>
          <a:ln w="12700">
            <a:solidFill>
              <a:srgbClr val="DFD1C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347472"/>
            <a:ext cx="2926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04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| DATABASE DESIGN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&amp; Mongoose Data Models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120700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structured NoSQL collections powering users, catalog items, orders, and live site configuration.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6419088"/>
            <a:ext cx="11000232" cy="18288"/>
          </a:xfrm>
          <a:prstGeom prst="rect">
            <a:avLst/>
          </a:prstGeom>
          <a:solidFill>
            <a:srgbClr val="DFD1C2"/>
          </a:solidFill>
          <a:ln w="12700">
            <a:solidFill>
              <a:srgbClr val="DFD1C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D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QuickCart | Full-Stack 3D E-Commerce Platform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76579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04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 of 12</a:t>
            </a:r>
            <a:endParaRPr lang="en-US" sz="9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737360"/>
          <a:ext cx="1100023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3867912"/>
                <a:gridCol w="36576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Collection / Model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4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Path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4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Schema Fields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4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 Features &amp; Hooks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4F33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16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7D6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models/User.js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3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name, email, password, role (customer|admin), address, resetPasswordToken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3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Bcrypt salt-12 pre-save hook, comparePassword() method, toJSON() password stripping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16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7D6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models/Product.js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3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name, slug, description, price, category, stock, images[], isFeatured, ratings[]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3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Auto-generated URL slug hook, computed avgRating virtual, full-text search indexing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16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7D6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models/Order.js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3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(ObjectId), items[], shippingAddress, paymentStatus, status, totalAmount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3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Populates user reference, tracks both payment lifecycle and shipping fulfillment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16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SiteConfig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7D6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models/SiteConfig.js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3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storeName, themePalette, enable3DBackground, heroTitleLine1, studioPrice, footerTagline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3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Singleton configuration document synced dynamically across all frontend pages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04F33"/>
          </a:solidFill>
          <a:ln w="12700">
            <a:solidFill>
              <a:srgbClr val="E04F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347472"/>
            <a:ext cx="3108960" cy="310896"/>
          </a:xfrm>
          <a:prstGeom prst="roundRect">
            <a:avLst>
              <a:gd name="adj" fmla="val 17647"/>
            </a:avLst>
          </a:prstGeom>
          <a:solidFill>
            <a:srgbClr val="EFE5D8"/>
          </a:solidFill>
          <a:ln w="12700">
            <a:solidFill>
              <a:srgbClr val="DFD1C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347472"/>
            <a:ext cx="2926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04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| REST API &amp; ROUTING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 Reference &amp; Interactive 3D 404 Page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120700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Express routing with role-protected endpoints and custom 3D fallback error handling.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6419088"/>
            <a:ext cx="11000232" cy="18288"/>
          </a:xfrm>
          <a:prstGeom prst="rect">
            <a:avLst/>
          </a:prstGeom>
          <a:solidFill>
            <a:srgbClr val="DFD1C2"/>
          </a:solidFill>
          <a:ln w="12700">
            <a:solidFill>
              <a:srgbClr val="DFD1C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D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QuickCart | Full-Stack 3D E-Commerce Platform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76579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04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 of 12</a:t>
            </a:r>
            <a:endParaRPr lang="en-US" sz="9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737360"/>
          <a:ext cx="1100023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291840"/>
                <a:gridCol w="2103120"/>
                <a:gridCol w="395935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 Group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61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61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61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61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04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/api/auth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3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/register, POST /login, GET &amp; PUT /profile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3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 Limited + JWT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3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Customer/Admin authentication, profile &amp; address updates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04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/api/products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3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/, GET /featured, GET /:id, POST/PUT/DELETE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3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Read / Admin Write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3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Catalog search, category filtering, sorting, and product CRUD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04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/api/orders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3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/, GET /my, GET /:id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3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JWT Authenticated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3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creation with stock deduction and customer order history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04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/api/admin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3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/login, GET /overview, PUT /config, CRUD /products, /orders, /users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3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JWT + requireAdmin Role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3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Admin Control Center API &amp; live SiteConfig publishing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404 Fallback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3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/404.html &amp; Unknown URL Middleware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3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 404 Status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3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Interactive 3D rotating gift parcel sculpture, live search &amp; quick links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04F33"/>
          </a:solidFill>
          <a:ln w="12700">
            <a:solidFill>
              <a:srgbClr val="E04F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347472"/>
            <a:ext cx="3108960" cy="310896"/>
          </a:xfrm>
          <a:prstGeom prst="roundRect">
            <a:avLst>
              <a:gd name="adj" fmla="val 17647"/>
            </a:avLst>
          </a:prstGeom>
          <a:solidFill>
            <a:srgbClr val="EFE5D8"/>
          </a:solidFill>
          <a:ln w="12700">
            <a:solidFill>
              <a:srgbClr val="DFD1C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347472"/>
            <a:ext cx="2926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04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| LIVE DEMO &amp; CONCLUSION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Deployment, Live Links &amp; Demo Access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120700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on Render with MongoDB Atlas and ready for live demonstration.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6419088"/>
            <a:ext cx="11000232" cy="18288"/>
          </a:xfrm>
          <a:prstGeom prst="rect">
            <a:avLst/>
          </a:prstGeom>
          <a:solidFill>
            <a:srgbClr val="DFD1C2"/>
          </a:solidFill>
          <a:ln w="12700">
            <a:solidFill>
              <a:srgbClr val="DFD1C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D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QuickCart | Full-Stack 3D E-Commerce Platform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76579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04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 of 12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94360" y="1691640"/>
            <a:ext cx="5486400" cy="4480560"/>
          </a:xfrm>
          <a:prstGeom prst="roundRect">
            <a:avLst>
              <a:gd name="adj" fmla="val 1633"/>
            </a:avLst>
          </a:prstGeom>
          <a:solidFill>
            <a:srgbClr val="FFFDF9"/>
          </a:solidFill>
          <a:ln w="12700">
            <a:solidFill>
              <a:srgbClr val="DFD1C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1691640"/>
            <a:ext cx="5486400" cy="73152"/>
          </a:xfrm>
          <a:prstGeom prst="rect">
            <a:avLst/>
          </a:prstGeom>
          <a:solidFill>
            <a:srgbClr val="E04F33"/>
          </a:solidFill>
          <a:ln w="12700">
            <a:solidFill>
              <a:srgbClr val="E04F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19202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04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Application Links &amp; Admin Credentials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868680" y="242316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Cloud Storefront: https://quartcart.onrender.com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2916936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Cloud Admin Vault: https://quartcart.onrender.com/admin.html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" y="3410712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Storefront Server: http://localhost:5000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8680" y="3904488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Admin Vault: http://localhost:5000/admin.html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" y="4398264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Currency: Indian Rupee (INR ₹) across all products, cart &amp; checkout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489204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Login Email: akash628484@gmail.com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5385816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Passcode: Akash@6283077  (Master Key: kala_hu_re)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09360" y="1691640"/>
            <a:ext cx="5285232" cy="4480560"/>
          </a:xfrm>
          <a:prstGeom prst="roundRect">
            <a:avLst>
              <a:gd name="adj" fmla="val 1633"/>
            </a:avLst>
          </a:prstGeom>
          <a:solidFill>
            <a:srgbClr val="FFFDF9"/>
          </a:solidFill>
          <a:ln w="12700">
            <a:solidFill>
              <a:srgbClr val="DFD1C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09360" y="1691640"/>
            <a:ext cx="5285232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1920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Enhancements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6583680" y="2450592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QuickCart successfully combines high-craft 3D WebGL visual merchandising with a secure, production-ready Node.js, Express, and MongoDB e-commerce backend.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83680" y="3319272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Owner Autonomy: The live SiteConfig engine empowers the website owner to customize branding, themes, inventory, and orders without touching code.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583680" y="4187952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 1: WebXR / Augmented Reality (AR) "View in Your Room" product placement for mobile shoppers.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583680" y="5056632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 2: AI-powered shopping concierge and automated email invoice PDF generation.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QuickCart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QuickCart - 3D Full-Stack E-Commerce Website Presentation</dc:title>
  <dc:subject>QuickCart Full-Stack 3D E-Commerce Platform Presentation</dc:subject>
  <dc:creator>QuickCart Engineering Team</dc:creator>
  <cp:lastModifiedBy>QuickCart Engineering Team</cp:lastModifiedBy>
  <cp:revision>1</cp:revision>
  <dcterms:created xsi:type="dcterms:W3CDTF">2026-10-14T13:47:45Z</dcterms:created>
  <dcterms:modified xsi:type="dcterms:W3CDTF">2026-10-14T13:47:45Z</dcterms:modified>
</cp:coreProperties>
</file>